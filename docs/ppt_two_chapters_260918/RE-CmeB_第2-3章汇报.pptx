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5E6B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A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R4a</c:v>
                  </c:pt>
                  <c:pt idx="4">
                    <c:v>R4b</c:v>
                  </c:pt>
                  <c:pt idx="5">
                    <c:v>R4c</c:v>
                  </c:pt>
                  <c:pt idx="6">
                    <c:v>R5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32.45</c:v>
                </c:pt>
                <c:pt idx="1">
                  <c:v>12.98</c:v>
                </c:pt>
                <c:pt idx="2">
                  <c:v>4.72</c:v>
                </c:pt>
                <c:pt idx="3">
                  <c:v>10.47</c:v>
                </c:pt>
                <c:pt idx="4">
                  <c:v>17.7</c:v>
                </c:pt>
                <c:pt idx="5">
                  <c:v>13.57</c:v>
                </c:pt>
                <c:pt idx="6">
                  <c:v>14.01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E2PO step 4000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A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R4a</c:v>
                  </c:pt>
                  <c:pt idx="4">
                    <c:v>R4b</c:v>
                  </c:pt>
                  <c:pt idx="5">
                    <c:v>R4c</c:v>
                  </c:pt>
                  <c:pt idx="6">
                    <c:v>R5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15.04</c:v>
                </c:pt>
                <c:pt idx="1">
                  <c:v>0.37</c:v>
                </c:pt>
                <c:pt idx="2">
                  <c:v>2.08</c:v>
                </c:pt>
                <c:pt idx="3">
                  <c:v>1.59</c:v>
                </c:pt>
                <c:pt idx="4">
                  <c:v>4.03</c:v>
                </c:pt>
                <c:pt idx="5">
                  <c:v>0.98</c:v>
                </c:pt>
                <c:pt idx="6">
                  <c:v>15.16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A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B7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E6B7C"/>
                    </a:solidFill>
                    <a:latin typeface="Arial"/>
                  </a:rPr>
                  <a:t>规则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BE2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B7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E6B7C"/>
                    </a:solidFill>
                    <a:latin typeface="Arial"/>
                  </a:rPr>
                  <a:t>命中率（%）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A4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ChEMBL 参照</c:v>
                </c:pt>
              </c:strCache>
            </c:strRef>
          </c:tx>
          <c:spPr>
            <a:solidFill>
              <a:srgbClr val="3166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A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R1–R4</c:v>
                  </c:pt>
                  <c:pt idx="1">
                    <c:v>R1–R5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</c:v>
                </c:pt>
                <c:pt idx="1">
                  <c:v>15.28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E2PO step 4000</c:v>
                </c:pt>
              </c:strCache>
            </c:strRef>
          </c:tx>
          <c:spPr>
            <a:solidFill>
              <a:srgbClr val="E884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A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R1–R4</c:v>
                  </c:pt>
                  <c:pt idx="1">
                    <c:v>R1–R5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21.27</c:v>
                </c:pt>
                <c:pt idx="1">
                  <c:v>32.03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A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BE2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B7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E6B7C"/>
                    </a:solidFill>
                    <a:latin typeface="Arial"/>
                  </a:rPr>
                  <a:t>命中率（%）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A4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本次汇报覆盖论文第 2 章与第 3 章。核心是一条完整的论证链：先用硬指标把模型适配好，结果发现指标改善的来源是结构病理；于是换一把独立于奖励的尺子重选底座，再换优化范式，最后在对接基本持平下把结构问题压下去。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开场先立问题：预训练模型学的是数据分布，参数里没有靶点偏好。用到具体靶点上必须做适配，而适配只能靠奖励——奖励又只是代理量。这就埋下了后面 reward hacking 的伏笔。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研究问题必须有独立一页。本文用两章回答：第2章建立一套适配与诊断流程并跑一次完整实现；第3章沿着诊断结论改底座、改范式。贯穿全程的原则是：判据要独立于训练奖励。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这页是全场的地图。上半是第2章：统一口径、五模型横评、选 DiffGui、强化学习适配，最后用独立口径诊断一次。中间的红色一句是转折——正是这个诊断否定了自己的指标口径。下半是第3章：在该口径下复评底座、改用 E2PO。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先给正面结果。这一页要讲清楚：强化学习确实把模型往高对接推了约 15%，有效性也上去了，重复率为零。这部分是实实在在成立的，而且是后面所有论证的起点。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的转折点。硬指标改善的同时，环系病理同步恶化。注意强调重原子数基本不变——这一点很关键，它排除了“模型只是把分子做大所以对接分变低”这个最常见的质疑。所以指标改善的来源里，至少有一部分是结构病理的富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上一页是统计证据，这页是单分子视觉证据。选样规则是“对接最优的10个”，也就是奖励函数直接指向的区域——所以这不是挑样本，而是看奖励想要什么。上排是 ep1，下排是 ep89，红色高亮是三元环：命中比例从 3/10 涨到 8/10。同时如实标注该子集重原子数从 23.6 涨到 27.1。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把根因讲透：训练奖励用的是 docking/QED/SA，而评价用的也是 UniDock+Vina 和 QED，是同一套计算过程。同源意味着指标的改善既可能来自真实提升，也可能来自模型针对这个口径的利用——两者在数值上分不开。所以出路不是调奖励权重，而是把评价和优化解耦。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换尺子之后结论翻转。DiffGui 的 R1–R4 命中率 73%，远高于 DiffSBDD 的 50%；但把比较限定在各自的合理分子子集上，两者对接几乎一样（−8.86 vs −8.92）。也就是说，DiffGui 全口径下的对接优势，完全来自它生成了更多病理分子。这句话把“选错模型”升级成了“指标口径有结构性盲区”。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这页讲机制。左边是第2章的做法——奖励函数给标量分，模型可以反向利用它。右边是 E2PO：winner 和 loser 在训练之前就由规则判定并固定，模型无论怎么改生成分布都改不了谁是 winner。所以奖励退化成“这一对梯度用多大力”，方向来自模型自己的去噪误差。这是结构性的反套利，不是调参。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主结果。合理分子产率从 30.5% 提到 55.6%，几乎翻倍；对接只回退 0.46 kcal/mol，基本持平。特别要说明停留点是按预先定好的准则选出来的，不是看结果挑的——这一点在答辩时几乎一定会被问。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看改善落在哪里。R2 和 R4c 几乎清零，R4b 也降了四倍多。但请特别注意橙色的 R5——它是组成护栏，在偏好对里被匹配成中性、不参与优化，所以完全没有改善。这不是缺陷，而是一个天然对照组：它证明了模型的改善方向严格由判据覆盖的维度决定。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第7页口径完全一致的一张图，方向完全相反。优化前对接最好的10个分子里只有1个干净，优化后有5个。这说明结构改善不是靠让出对接优势区换来的——即便在对接最优的子集里，结构也变干净了。这是整个工作里最有说服力的一张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最后把结果放到真实化学空间里定位。优化后 R1–R4 是 21.27%，参照水平是 10.38%——还差两倍。换 R1–R5 口径算同样是两倍，说明这个差距是稳的，不依赖于是否纳入组成护栏。这一页的价值在于诚实：改善是真的，但离真实类药空间还有距离。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主动把边界摆出来。QED 下降说明换口径只是把未被覆盖的维度暴露出来，这不是失败而是必然；单口袋单 seed 是统计效力问题；离 ChEMBL 参照还差两倍。最后一句最重要：候选分子是否真的更优，最终要靠 MD 和实验，这是计算工作的固有边界。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页在问答环节保持显示。三条：一是奖励可被套利，这是机制性发现；二是把优化目标换成独立口径后能实现“对接不掉、结构变好”；三是判据覆盖的维度决定改善方向——这条是方法学层面的，也是最有推广价值的一条。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完整参考文献。汇报中引用的每一项来源都在这里。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附录页，用于预判的问答。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附录页，用于预判的问答。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附录页，用于预判的问答。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附录页，用于预判的问答。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附录页，用于预判的问答。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附录页，用于预判的问答。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RE-CmeB 靶点分子生成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从代理奖励套利到独立口径的偏好优化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8288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2–3 章工作汇报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谢东宸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[培养院系]  ·  2026 年 9 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预训练生成模型不含靶点偏好，直接用于 RE-CmeB 无法保证分子可用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生成模型的训练目标是拟合数据分布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参数中不含任何口袋特异性；换一个靶点必须重新适配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适配手段是奖励，而奖励只是代理量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对接分数、QED、SA score 都不等于真实目标 → 适配结果必须用独立口径检验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RE-CmeB 靶点：PDB 8GJL，口袋 C:1101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核心问题：能否在不牺牲对接的前提下，抑制生成分子的结构病理？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37160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E7EFFC"/>
          </a:solidFill>
          <a:ln w="19050">
            <a:solidFill>
              <a:srgbClr val="3166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481328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用标量奖励把模型适配好之后，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能否不以其结构合理性为代价？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能否用一个独立于训练奖励的口径来度量并抑制这种代价？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章建立可复用的适配与检验流程，并完成一次完整实现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章以该口径为起点，更换底座选择依据与优化范式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判据必须独立于训练奖励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本文建立两条递进的流程：先用硬指标适配，再用独立口径审查并重选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44168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3166B2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441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7320" y="134416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统一对接口径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134416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34416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五模型横评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134416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34416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DiffGui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34416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06440" y="134416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强化学习适配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8040" y="134416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69480" y="134416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独立口径诊断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98648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986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17320" y="289864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该口径下复评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289864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80360" y="289864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改以 DiffSBDD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51960" y="289864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289864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成对偏好优化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289864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289864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合理分子 55.6%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2898648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9480" y="2898648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对接基本持平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诊断结论作为转折：硬指标改善，但结构病理同步恶化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两条流程为递进关系：第 2 章的诊断界定了第 2 章结论的适用范围，并构成第 3 章的问题起点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在硬指标口径下，DiffGui 强化学习完成了有效的靶点适配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pic>
        <p:nvPicPr>
          <p:cNvPr id="4" name="Image 0" descr="/data/disk6/DiffB110/docs/images/fig2_3_trai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709160" cy="2568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1097280"/>
            <a:ext cx="3337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对接均值 −9.78 → 最优 −11.28（约 15%）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最优出现在 epoch 79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RDKit valid / docking success：0.8906 → 0.9531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重复率为 0；8 卡、全模型微调、t=200、等权奖励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2.3 DiffGui 主训练逐 epoch 的奖励、对接与有效性（ep1–89）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但同一批分子的环系病理同步恶化：三元环率由 12.3% 升至 44.3%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pic>
        <p:nvPicPr>
          <p:cNvPr id="4" name="Image 0" descr="/data/disk6/DiffB110/docs/images/fig2_5_proxy_reward_exploi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709160" cy="2568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1097280"/>
            <a:ext cx="3337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三元环率 12.3% → 44.3%（约 3.6 倍）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螺环率 12.3% → 27.9%，桥环率 14.0% → 19.7%，芳香环数下降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重原子数基本不变（18.2 → 19.0）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排除“生成更大分子刷分”的解释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2.5 代理奖励套利诊断（主训练 ep1–89）；表 2.6 主训练前后环系与刚性指标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在对接最好的分子中，含三元环的比例由 3/10 升至 8/10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pic>
        <p:nvPicPr>
          <p:cNvPr id="4" name="Image 0" descr="/data/disk6/DiffB110/docs/images/fig2_6_diffgui_rl_top_do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2685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5643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选样：对接分数最优的 10 个 —— 奖励函数直接指向的区域，非事后挑选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三元环 / R4b / R4c 命中数 30% → 80%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该子集重原子数 23.6 → 27.1（图中已标注，尺寸混杂透明化）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根因是评价口径与训练奖励同源，改善无法自证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E7EFFC"/>
          </a:solidFill>
          <a:ln w="12700">
            <a:solidFill>
              <a:srgbClr val="3166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6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训练奖励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docking · QED · SA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32588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DF2E5"/>
          </a:solidFill>
          <a:ln w="12700">
            <a:solidFill>
              <a:srgbClr val="E88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评价口径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783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UniDock + Vina · QED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69080" y="16459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同一套计算过程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指标的改善既可来自分子质量的真实提升，也可来自模型对该口径的针对性利用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二者在数值上无法区分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评价与优化必须解耦，这是第 3 章的出发点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改用独立于奖励的结构规则口径后，DiffGui 的高对接优势消失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pic>
        <p:nvPicPr>
          <p:cNvPr id="4" name="Image 0" descr="/data/disk6/DiffB110/docs/images/fig3_1_model_path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709160" cy="2568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1097280"/>
            <a:ext cx="3337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R1–R4 命中率：DiffGui 73.23% vs DiffSBDD 50.12%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限定在合理分子子集后：−8.86 vs −8.92 kcal/mol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全口径的对接优势归零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说明优势来自分子池中的病理结构，而非合理分子本身更好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3.1 五模型结构规则命中率（500 步、3 次重复）；表 3.2 / 表 3.2b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E2PO 把“什么更好”从事后标量打分改为事前成对比较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FCEBEB"/>
          </a:solidFill>
          <a:ln w="12700">
            <a:solidFill>
              <a:srgbClr val="C84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89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4E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标量奖励（第 2 章）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奖励函数给每个分子打一个分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模型可反向利用该函数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出现套利（reward hacking）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E2F4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89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成对偏好（E2PO，第 3 章）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winner / loser 在训练前由规则判定并固定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模型无法改变“谁是 winner”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机制上切断套利通道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奖励只决定“这一对梯度用多大力”，方向来自模型自身的去噪误差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偏好对定义：R1–R4 命中 0 条为 good，≥1 条为 bad；R5 在配对中保持中性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E2PO 将合理分子产率由 30.5% 提升至 55.6%，对接基本持平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pic>
        <p:nvPicPr>
          <p:cNvPr id="4" name="Image 0" descr="/data/disk6/DiffB110/docs/images/fig3_3_e2po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709160" cy="2568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1097280"/>
            <a:ext cx="3337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合理分子产率 30.5% → 55.6%（1.82×）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R1–R4 命中率 48.67% → 21.27%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合理分子对接中位 −8.92 → −8.46（回退 0.46）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停留点 step 4000 由预先确定的准则选出，非事后挑选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3.3 / 图 3.3；停留点准则：合理分子 QED 不低于基线 85% 时取产率最高者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改善集中在三元环与环系维度：R2 与 R4c 几乎被清除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18872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 12.98% → 0.37%，R4c 13.57% → 0.98%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R4b 17.70% → 4.03%，R1 32.45% → 15.04%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E884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护栏 14.01% → 15.16%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它未进入优化目标，故没有改善动力 —— 这反证了“判据覆盖维度决定改善方向”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3.3 E2PO 优化前后逐条命中率（推荐停留点 step 4000）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与第 2 章相反：优化后对接最好的分子中，干净分子由 1/10 增至 5/10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pic>
        <p:nvPicPr>
          <p:cNvPr id="4" name="Image 0" descr="/data/disk6/DiffB110/docs/images/fig3_2_e2po_top_do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2685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5643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选样规则与第 7 页完全一致（对接分数最优的 10 个）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三元环 2/10 → 0/10；R1–R4 命中 8/10 → 3/10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该子集重原子数 30.6 → 24.6（图中已标注）；全体口径下重原子数基本不变（21.7 → 20.8）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优化后仍未达到真实类药空间水平，差距约 2 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40680" y="118872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R1–R4：21.27% vs 10.38%（2.05×）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R1–R5：32.03% vs 15.28%（2.10×）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089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两个口径给出同一结论 → 差距不依赖于是否纳入组成护栏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ChEMBL 参照 1 550 090 个类药分子，与生成分子同一规则实现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§3.3.2.3 与基线和外部参照的口径对比；ChEMBL 36，relaxed 分母口径一致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结论的三条边界：QED 下降、单一口袋、未达参照水平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目标外维度漂移：合理分子 QED 0.647 → 0.561 —— 优化目标未覆盖的维度会退化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统计效力有限：单一口袋（8GJL/C1101）、单 seed、无方差估计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未达参照水平：与 ChEMBL 相比仍有约 2 倍差距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候选分子是否真的更优，最终仍需分子动力学模拟与实验活性验证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§3.3.2.4 放行标准核对；§3.4 本章小结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标量代理奖励可被模型针对性利用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对接均值改善约 15% 的同时，三元环率由 12.3% 升至 44.3%，且重原子数基本不变 —— 改善的来源包含结构病理富集。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762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优化目标改为独立于奖励的显式结构规则后，可在对接基本持平下实现结构改善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合理分子产率 30.5% → 55.6%（1.82×），R1–R4 命中率 48.67% → 21.27%，对接中位仅回退 0.46 kcal/mol。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3192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判据覆盖的维度决定能改善什么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未进入优化目标的 R5 护栏无改善动力；优化后与真实类药空间仍有约 2 倍差距。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谢东宸 · [培养院系] · [邮箱]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8229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Zdrazil B, Felix E, Hunter F, et al. The ChEMBL database in 2023[J]. Nucleic Acids Research, 2024, 52(D1): D1180-D1192.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Schneuing A, Harris C, Du Y, et al. Structure-based drug design with equivariant diffusion models[J]. Nature Computational Science, 2024, 4(12): 899-909.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Hu Q, Sun C, He H, et al. Target-aware 3D molecular generation based on guided equivariant diffusion[J]. Nature Communications, 2025, 16(1): 7928.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Schulman J, Wolski F, Dhariwal P, et al. Proximal policy optimization algorithms[J/OL]. arXiv:1707.06347, 2017.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Black K, Janner M, Du Y, et al. Training diffusion models with reinforcement learning[C]//ICLR. 2024.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Rafailov R, Sharma A, Mitchell E, et al. Direct preference optimization: your language model is secretly a reward model[C]//NeurIPS. 2023.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Yu Y, Cai C, Wang J, et al. Uni-Dock: GPU-accelerated docking enables ultralarge virtual screening[J]. JCTC, 2023, 19(11): 3336-3345.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Trott O, Olson A J. AutoDock Vina[J]. Journal of Computational Chemistry, 2010, 31(2): 455-461.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Bickerton G R, Paolini G V, Besnard J, et al. Quantifying the chemical beauty of drugs[J]. Nature Chemistry, 2012, 4(2): 90-98.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Ertl P, Schuffenhauer A. Estimation of synthetic accessibility score[J]. Journal of Cheminformatics, 2009, 1(1): 8.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· 为什么不用 SA score / Brenk 作为判据？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Brenk 过滤器：五模型命中率持平（26%–35%），无法区分病理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 score：能区分但动态范围小（E2PO 全程仅动 0.23），不适合作主要偏好轴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结构规则口径：仅由拓扑与元素组成判定，不依赖对接或活性计算，与优化目标天然独立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· R1–R5 的阈值（≥7、&gt;3、0.85）是怎么定的？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判据用法是相对比较 —— 比较同条件、不同模型或不同训练阶段之间的差异，而非以绝对阈值判定单个分子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参照系为 ChEMBL 36 全量 1 550 090 个类药分子，使用完全相同的规则实现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逐条富集倍数：R4a 31.7×、R4c 20.9×、R4b 16.0×、R1 7.9×、R2 3.9×、R3 1.9×、R5 2.2×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17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· 与 ChEMBL 参照的口径是否可比？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参照集经 chembl_structure_pipeline 标准化，全部 SMILES 均为单片段（多片段 0、解析失败 0）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relaxed 最大片段步骤在参照集上为空操作，relaxed 分子数 = 全量 1 550 090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生成侧与参照侧使用同一分母定义（relaxed 分子数）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17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· 分子尺寸（HAC）的混杂如何控制？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环系病理与分子尺寸正相关：corr(HAC, R1–R4) = +0.64 ~ +0.70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按重原子数分层后，三元环率的上升在每一档内均成立（0→22%、0→31%、7→50%、12→43%）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R1–R4 聚合量在各档内基本不变 → 该聚合量的变化主要由尺寸分布驱动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17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A5 · 偏好对的匹配质量如何？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(元素组成, 重原子数) 严格匹配：两侧 R1–R4 平均命中条数 0.000 vs 1.978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命中率被拉平（均为 3.29%），对接分均值差 &lt; 0.003 → 两维度差异已被抵消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因此偏好对中唯一系统性差异是 R1–R4 结构病理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17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A6 · 为什么选 step 4000 而非产率更高的检查点？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18288"/>
          </a:xfrm>
          <a:prstGeom prst="rect">
            <a:avLst/>
          </a:prstGeom>
          <a:solidFill>
            <a:srgbClr val="DBE2EB"/>
          </a:solidFill>
          <a:ln w="12700">
            <a:solidFill>
              <a:srgbClr val="DB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准则预先确定：合理分子 QED 不低于基线 85%（0.647 × 0.85 = 0.550）时，取产率最高者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继续训练至 step 16000 产率可达约 69%，但合理分子对接中位一路回退至约 −8.0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dirty="0">
                <a:solidFill>
                  <a:srgbClr val="162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4000 把对接让步限制在 0.46 kcal/mol 以内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RE-CmeB 靶点分子生成：从代理奖励套利到独立口径的偏好优化</dc:title>
  <dc:subject>PptxGenJS Presentation</dc:subject>
  <dc:creator>谢东宸</dc:creator>
  <cp:lastModifiedBy>谢东宸</cp:lastModifiedBy>
  <cp:revision>1</cp:revision>
  <dcterms:created xsi:type="dcterms:W3CDTF">2026-09-18T02:40:43Z</dcterms:created>
  <dcterms:modified xsi:type="dcterms:W3CDTF">2026-09-18T02:40:43Z</dcterms:modified>
</cp:coreProperties>
</file>