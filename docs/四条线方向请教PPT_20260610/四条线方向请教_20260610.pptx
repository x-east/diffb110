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4000" y="288000"/>
            <a:ext cx="1800000" cy="234000"/>
          </a:xfrm>
          <a:prstGeom prst="roundRect">
            <a:avLst/>
          </a:prstGeom>
          <a:solidFill>
            <a:srgbClr val="FDF2E5"/>
          </a:solidFill>
          <a:ln>
            <a:solidFill>
              <a:srgbClr val="FDF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8844C"/>
                </a:solidFill>
                <a:latin typeface="Microsoft YaHei"/>
              </a:defRPr>
            </a:pPr>
            <a:r>
              <a:t>方向请教 / 非最终成果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737999"/>
            <a:ext cx="82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A45"/>
                </a:solidFill>
                <a:latin typeface="Microsoft YaHei"/>
              </a:defRPr>
            </a:pPr>
            <a:r>
              <a:t>DiffB110：3D 分子扩散模型强化学习的四条探索线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8000" y="1206000"/>
            <a:ext cx="79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E6B7C"/>
                </a:solidFill>
                <a:latin typeface="Microsoft YaHei"/>
              </a:defRPr>
            </a:pPr>
            <a:r>
              <a:t>底座质量、reward hacking 与课题主线选择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8000" y="1638000"/>
            <a:ext cx="82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97B"/>
                </a:solidFill>
                <a:latin typeface="Microsoft YaHei"/>
              </a:defRPr>
            </a:pPr>
            <a:r>
              <a:t>RE-CmeB / DiffSBDD / DiffGui / DDPO-PPO / x-h-e diffusion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2304000"/>
            <a:ext cx="2448000" cy="86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6000" y="2440800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166B2"/>
                </a:solidFill>
                <a:latin typeface="Microsoft YaHei"/>
              </a:defRPr>
            </a:pPr>
            <a:r>
              <a:t>C: DiffSBDD 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6000" y="2718000"/>
            <a:ext cx="21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E6B7C"/>
                </a:solidFill>
                <a:latin typeface="Microsoft YaHei"/>
              </a:defRPr>
            </a:pPr>
            <a:r>
              <a:t>成熟但 reward hacking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96000" y="2304000"/>
            <a:ext cx="2448000" cy="86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21999" y="2440800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D9662"/>
                </a:solidFill>
                <a:latin typeface="Microsoft YaHei"/>
              </a:defRPr>
            </a:pPr>
            <a:r>
              <a:t>A: 内部小改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1999" y="2718000"/>
            <a:ext cx="21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E6B7C"/>
                </a:solidFill>
                <a:latin typeface="Microsoft YaHei"/>
              </a:defRPr>
            </a:pPr>
            <a:r>
              <a:t>低风险但改善有限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32000" y="2304000"/>
            <a:ext cx="2448000" cy="86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58000" y="2440800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844C"/>
                </a:solidFill>
                <a:latin typeface="Microsoft YaHei"/>
              </a:defRPr>
            </a:pPr>
            <a:r>
              <a:t>B: x/h/e 适配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58000" y="2718000"/>
            <a:ext cx="21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E6B7C"/>
                </a:solidFill>
                <a:latin typeface="Microsoft YaHei"/>
              </a:defRPr>
            </a:pPr>
            <a:r>
              <a:t>触及根因但高风险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67999" y="2304000"/>
            <a:ext cx="2448000" cy="86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94000" y="2440800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897B"/>
                </a:solidFill>
                <a:latin typeface="Microsoft YaHei"/>
              </a:defRPr>
            </a:pPr>
            <a:r>
              <a:t>D: DiffGui RL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94000" y="2718000"/>
            <a:ext cx="21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E6B7C"/>
                </a:solidFill>
                <a:latin typeface="Microsoft YaHei"/>
              </a:defRPr>
            </a:pPr>
            <a:r>
              <a:t>当前最倾向主线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000" y="3726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62A45"/>
                </a:solidFill>
                <a:latin typeface="Microsoft YaHei"/>
              </a:defRPr>
            </a:pPr>
            <a:r>
              <a:t>目标：请老师判断课题应收敛到哪条主线，以及下一步如何设计成更像计算机方法论文。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000" y="6678000"/>
            <a:ext cx="11160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B7C"/>
                </a:solidFill>
                <a:latin typeface="Microsoft YaHei"/>
              </a:defRPr>
            </a:pPr>
            <a:r>
              <a:t>DiffB110 四条探索线方向请教 | 2026-06-10 | 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62000"/>
            <a:ext cx="11340000" cy="37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62A45"/>
                </a:solidFill>
                <a:latin typeface="Microsoft YaHei"/>
              </a:defRPr>
            </a:pPr>
            <a:r>
              <a:t>两个底座：DiffSBDD vs DiffGui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5200" y="522000"/>
            <a:ext cx="1098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E6B7C"/>
                </a:solidFill>
                <a:latin typeface="Microsoft YaHei"/>
              </a:defRPr>
            </a:pPr>
            <a:r>
              <a:t>同一个 RL 问题，在不同生成底座上难度完全不同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4000" y="810000"/>
            <a:ext cx="5400000" cy="1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0000" y="810000"/>
            <a:ext cx="5400000" cy="1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0000" y="917999"/>
            <a:ext cx="19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166B2"/>
                </a:solidFill>
                <a:latin typeface="Microsoft YaHei"/>
              </a:defRPr>
            </a:pPr>
            <a:r>
              <a:t>DiffSBDD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0000" y="1152000"/>
            <a:ext cx="4968000" cy="12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marL="250000" hanging="120000">
              <a:spcAft>
                <a:spcPts val="500"/>
              </a:spcAft>
              <a:defRPr sz="1200">
                <a:solidFill>
                  <a:srgbClr val="162A45"/>
                </a:solidFill>
                <a:latin typeface="Microsoft YaHei"/>
              </a:defRPr>
            </a:pPr>
            <a:r>
              <a:t>生成 ligand 坐标 x 与原子类型 h</a:t>
            </a:r>
          </a:p>
          <a:p>
            <a:pPr marL="250000" hanging="120000">
              <a:spcAft>
                <a:spcPts val="500"/>
              </a:spcAft>
              <a:defRPr sz="1200">
                <a:solidFill>
                  <a:srgbClr val="162A45"/>
                </a:solidFill>
                <a:latin typeface="Microsoft YaHei"/>
              </a:defRPr>
            </a:pPr>
            <a:r>
              <a:t>最后依赖 OpenBabel/RDKit 从点云重建键</a:t>
            </a:r>
          </a:p>
          <a:p>
            <a:pPr marL="250000" hanging="120000">
              <a:spcAft>
                <a:spcPts val="500"/>
              </a:spcAft>
              <a:defRPr sz="1200">
                <a:solidFill>
                  <a:srgbClr val="162A45"/>
                </a:solidFill>
                <a:latin typeface="Microsoft YaHei"/>
              </a:defRPr>
            </a:pPr>
            <a:r>
              <a:t>速度快、RL 工程成熟</a:t>
            </a:r>
          </a:p>
          <a:p>
            <a:pPr marL="250000" hanging="120000">
              <a:spcAft>
                <a:spcPts val="500"/>
              </a:spcAft>
              <a:defRPr sz="1200">
                <a:solidFill>
                  <a:srgbClr val="162A45"/>
                </a:solidFill>
                <a:latin typeface="Microsoft YaHei"/>
              </a:defRPr>
            </a:pPr>
            <a:r>
              <a:t>成键/合法性弱，RL 容易陷入坏分子惩罚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6000" y="917999"/>
            <a:ext cx="19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897B"/>
                </a:solidFill>
                <a:latin typeface="Microsoft YaHei"/>
              </a:defRPr>
            </a:pPr>
            <a:r>
              <a:t>DiffGui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6000" y="1152000"/>
            <a:ext cx="4968000" cy="12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marL="250000" hanging="120000">
              <a:spcAft>
                <a:spcPts val="500"/>
              </a:spcAft>
              <a:defRPr sz="1200">
                <a:solidFill>
                  <a:srgbClr val="162A45"/>
                </a:solidFill>
                <a:latin typeface="Microsoft YaHei"/>
              </a:defRPr>
            </a:pPr>
            <a:r>
              <a:t>原生建模 atom、bond/halfedge 与坐标</a:t>
            </a:r>
          </a:p>
          <a:p>
            <a:pPr marL="250000" hanging="120000">
              <a:spcAft>
                <a:spcPts val="500"/>
              </a:spcAft>
              <a:defRPr sz="1200">
                <a:solidFill>
                  <a:srgbClr val="162A45"/>
                </a:solidFill>
                <a:latin typeface="Microsoft YaHei"/>
              </a:defRPr>
            </a:pPr>
            <a:r>
              <a:t>更接近 x/h/e 联合生成</a:t>
            </a:r>
          </a:p>
          <a:p>
            <a:pPr marL="250000" hanging="120000">
              <a:spcAft>
                <a:spcPts val="500"/>
              </a:spcAft>
              <a:defRPr sz="1200">
                <a:solidFill>
                  <a:srgbClr val="162A45"/>
                </a:solidFill>
                <a:latin typeface="Microsoft YaHei"/>
              </a:defRPr>
            </a:pPr>
            <a:r>
              <a:t>成功写入样本可重建合法性更强</a:t>
            </a:r>
          </a:p>
          <a:p>
            <a:pPr marL="250000" hanging="120000">
              <a:spcAft>
                <a:spcPts val="500"/>
              </a:spcAft>
              <a:defRPr sz="1200">
                <a:solidFill>
                  <a:srgbClr val="162A45"/>
                </a:solidFill>
                <a:latin typeface="Microsoft YaHei"/>
              </a:defRPr>
            </a:pPr>
            <a:r>
              <a:t>但 raw generation 仍有 reconstruction failure 和复杂环偏差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000" y="2880000"/>
            <a:ext cx="5364000" cy="2015999"/>
          </a:xfrm>
          <a:prstGeom prst="roundRect">
            <a:avLst/>
          </a:prstGeom>
          <a:solidFill>
            <a:srgbClr val="FAFCFF"/>
          </a:solidFill>
          <a:ln>
            <a:solidFill>
              <a:srgbClr val="A8B5C4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5E6B7C"/>
                </a:solidFill>
                <a:latin typeface="Microsoft YaHei"/>
              </a:defRPr>
            </a:pPr>
            <a:r>
              <a:t>占位图：DiffSBDD 生成分子样貌</a:t>
            </a:r>
            <a:br/>
            <a:r>
              <a:t>用户后续手动加入</a:t>
            </a:r>
            <a:br/>
            <a:r>
              <a:t>不要自动补图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0000" y="2880000"/>
            <a:ext cx="5400000" cy="2015999"/>
          </a:xfrm>
          <a:prstGeom prst="roundRect">
            <a:avLst/>
          </a:prstGeom>
          <a:solidFill>
            <a:srgbClr val="FAFCFF"/>
          </a:solidFill>
          <a:ln>
            <a:solidFill>
              <a:srgbClr val="A8B5C4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5E6B7C"/>
                </a:solidFill>
                <a:latin typeface="Microsoft YaHei"/>
              </a:defRPr>
            </a:pPr>
            <a:r>
              <a:t>占位图：DiffGui 生成分子样貌</a:t>
            </a:r>
            <a:br/>
            <a:r>
              <a:t>用户后续手动加入</a:t>
            </a:r>
            <a:br/>
            <a:r>
              <a:t>不要自动补图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5112000"/>
            <a:ext cx="108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84E52"/>
                </a:solidFill>
                <a:latin typeface="Microsoft YaHei"/>
              </a:defRPr>
            </a:pPr>
            <a:r>
              <a:t>关键口径：DiffGui 的 100% sanitize 是“成功写入/进入评估 SDF”口径，不代表原始生成全流程成功。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4000" y="6678000"/>
            <a:ext cx="11160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B7C"/>
                </a:solidFill>
                <a:latin typeface="Microsoft YaHei"/>
              </a:defRPr>
            </a:pPr>
            <a:r>
              <a:t>DiffB110 四条探索线方向请教 | 2026-06-10 |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62000"/>
            <a:ext cx="11340000" cy="37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62A45"/>
                </a:solidFill>
                <a:latin typeface="Microsoft YaHei"/>
              </a:defRPr>
            </a:pPr>
            <a:r>
              <a:t>共同背景：底座质量决定 RL 难度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5200" y="522000"/>
            <a:ext cx="1098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E6B7C"/>
                </a:solidFill>
                <a:latin typeface="Microsoft YaHei"/>
              </a:defRPr>
            </a:pPr>
            <a:r>
              <a:t>横评说明 DiffGui 更强，但 sanitize 口径必须谨慎</a:t>
            </a:r>
          </a:p>
        </p:txBody>
      </p:sp>
      <p:pic>
        <p:nvPicPr>
          <p:cNvPr id="4" name="Picture 3" descr="sanitize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792000"/>
            <a:ext cx="5328000" cy="3276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940000" y="774000"/>
            <a:ext cx="5508000" cy="34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0000" y="954000"/>
            <a:ext cx="5040000" cy="190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marL="250000" hanging="120000">
              <a:spcAft>
                <a:spcPts val="500"/>
              </a:spcAft>
              <a:defRPr sz="1200">
                <a:solidFill>
                  <a:srgbClr val="162A45"/>
                </a:solidFill>
                <a:latin typeface="Microsoft YaHei"/>
              </a:defRPr>
            </a:pPr>
            <a:r>
              <a:t>DiffSBDD：评估 SDF sanitize 约 66.6%，速度和 docking 潜力不差</a:t>
            </a:r>
          </a:p>
          <a:p>
            <a:pPr marL="250000" hanging="120000">
              <a:spcAft>
                <a:spcPts val="500"/>
              </a:spcAft>
              <a:defRPr sz="1200">
                <a:solidFill>
                  <a:srgbClr val="162A45"/>
                </a:solidFill>
                <a:latin typeface="Microsoft YaHei"/>
              </a:defRPr>
            </a:pPr>
            <a:r>
              <a:t>DiffGui：进入评估 SDF sanitize 为 100%，但为得到 500 个成功样本另有 55 个失败样本被丢弃</a:t>
            </a:r>
          </a:p>
          <a:p>
            <a:pPr marL="250000" hanging="120000">
              <a:spcAft>
                <a:spcPts val="500"/>
              </a:spcAft>
              <a:defRPr sz="1200">
                <a:solidFill>
                  <a:srgbClr val="162A45"/>
                </a:solidFill>
                <a:latin typeface="Microsoft YaHei"/>
              </a:defRPr>
            </a:pPr>
            <a:r>
              <a:t>两者都会生成复杂环/稠环；DiffGui ring mean=4.68，芳香分子率=70.2%，carbon fraction=0.820</a:t>
            </a:r>
          </a:p>
          <a:p>
            <a:pPr marL="250000" hanging="120000">
              <a:spcAft>
                <a:spcPts val="500"/>
              </a:spcAft>
              <a:defRPr sz="1200">
                <a:solidFill>
                  <a:srgbClr val="162A45"/>
                </a:solidFill>
                <a:latin typeface="Microsoft YaHei"/>
              </a:defRPr>
            </a:pPr>
            <a:r>
              <a:t>底座弱时，RL 学习信号会被坏分子惩罚稀释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0000" y="3330000"/>
            <a:ext cx="4968000" cy="4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2A45"/>
                </a:solidFill>
                <a:latin typeface="Microsoft YaHei"/>
              </a:defRPr>
            </a:pPr>
            <a:r>
              <a:t>所以问题不是“哪个 reward 更花哨”，而是：RL 应该建立在什么底座上，才能学到稳定方向？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4000" y="6678000"/>
            <a:ext cx="11160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B7C"/>
                </a:solidFill>
                <a:latin typeface="Microsoft YaHei"/>
              </a:defRPr>
            </a:pPr>
            <a:r>
              <a:t>DiffB110 四条探索线方向请教 | 2026-06-10 |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62000"/>
            <a:ext cx="11340000" cy="37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62A45"/>
                </a:solidFill>
                <a:latin typeface="Microsoft YaHei"/>
              </a:defRPr>
            </a:pPr>
            <a:r>
              <a:t>C 线：DiffSBDD RL 跑通，但 reward hacking 明显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5200" y="522000"/>
            <a:ext cx="1098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E6B7C"/>
                </a:solidFill>
                <a:latin typeface="Microsoft YaHei"/>
              </a:defRPr>
            </a:pPr>
            <a:r>
              <a:t>工程最成熟，但模型会钻 reward 空子</a:t>
            </a:r>
          </a:p>
        </p:txBody>
      </p:sp>
      <p:pic>
        <p:nvPicPr>
          <p:cNvPr id="4" name="Picture 3" descr="rl_descriptor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756000"/>
            <a:ext cx="5544000" cy="3456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120000" y="756000"/>
            <a:ext cx="5364000" cy="345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0000" y="954000"/>
            <a:ext cx="4968000" cy="1655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marL="250000" hanging="120000">
              <a:spcAft>
                <a:spcPts val="500"/>
              </a:spcAft>
              <a:defRPr sz="1200">
                <a:solidFill>
                  <a:srgbClr val="162A45"/>
                </a:solidFill>
                <a:latin typeface="Microsoft YaHei"/>
              </a:defRPr>
            </a:pPr>
            <a:r>
              <a:t>DDPO/PPO、多 GPU、reward factory、descriptor logging、checkpoint 已经完整</a:t>
            </a:r>
          </a:p>
          <a:p>
            <a:pPr marL="250000" hanging="120000">
              <a:spcAft>
                <a:spcPts val="500"/>
              </a:spcAft>
              <a:defRPr sz="1200">
                <a:solidFill>
                  <a:srgbClr val="162A45"/>
                </a:solidFill>
                <a:latin typeface="Microsoft YaHei"/>
              </a:defRPr>
            </a:pPr>
            <a:r>
              <a:t>旧训练暴露出高碳化、TPSA 下降、杂原子减少</a:t>
            </a:r>
          </a:p>
          <a:p>
            <a:pPr marL="250000" hanging="120000">
              <a:spcAft>
                <a:spcPts val="500"/>
              </a:spcAft>
              <a:defRPr sz="1200">
                <a:solidFill>
                  <a:srgbClr val="162A45"/>
                </a:solidFill>
                <a:latin typeface="Microsoft YaHei"/>
              </a:defRPr>
            </a:pPr>
            <a:r>
              <a:t>classifier reward 太稀疏，docking 与 classifier 目标冲突</a:t>
            </a:r>
          </a:p>
          <a:p>
            <a:pPr marL="250000" hanging="120000">
              <a:spcAft>
                <a:spcPts val="500"/>
              </a:spcAft>
              <a:defRPr sz="1200">
                <a:solidFill>
                  <a:srgbClr val="162A45"/>
                </a:solidFill>
                <a:latin typeface="Microsoft YaHei"/>
              </a:defRPr>
            </a:pPr>
            <a:r>
              <a:t>有效好样本太少，PPO 容易学到偏离分布的捷径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0000" y="2988000"/>
            <a:ext cx="460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166B2"/>
                </a:solidFill>
                <a:latin typeface="Microsoft YaHei"/>
              </a:defRPr>
            </a:pPr>
            <a:r>
              <a:t>下一步候选修复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0000" y="3240000"/>
            <a:ext cx="4752000" cy="79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marL="250000" hanging="120000">
              <a:spcAft>
                <a:spcPts val="500"/>
              </a:spcAft>
              <a:defRPr sz="1100">
                <a:solidFill>
                  <a:srgbClr val="162A45"/>
                </a:solidFill>
                <a:latin typeface="Microsoft YaHei"/>
              </a:defRPr>
            </a:pPr>
            <a:r>
              <a:t>KL / prior-agent 约束</a:t>
            </a:r>
          </a:p>
          <a:p>
            <a:pPr marL="250000" hanging="120000">
              <a:spcAft>
                <a:spcPts val="500"/>
              </a:spcAft>
              <a:defRPr sz="1100">
                <a:solidFill>
                  <a:srgbClr val="162A45"/>
                </a:solidFill>
                <a:latin typeface="Microsoft YaHei"/>
              </a:defRPr>
            </a:pPr>
            <a:r>
              <a:t>ChemistryGuard + descriptor drift 监控</a:t>
            </a:r>
          </a:p>
          <a:p>
            <a:pPr marL="250000" hanging="120000">
              <a:spcAft>
                <a:spcPts val="500"/>
              </a:spcAft>
              <a:defRPr sz="1100">
                <a:solidFill>
                  <a:srgbClr val="162A45"/>
                </a:solidFill>
                <a:latin typeface="Microsoft YaHei"/>
              </a:defRPr>
            </a:pPr>
            <a:r>
              <a:t>GoodMoleculePool + dense classifier shaping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4000" y="6678000"/>
            <a:ext cx="11160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B7C"/>
                </a:solidFill>
                <a:latin typeface="Microsoft YaHei"/>
              </a:defRPr>
            </a:pPr>
            <a:r>
              <a:t>DiffB110 四条探索线方向请教 | 2026-06-10 |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62000"/>
            <a:ext cx="11340000" cy="37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62A45"/>
                </a:solidFill>
                <a:latin typeface="Microsoft YaHei"/>
              </a:defRPr>
            </a:pPr>
            <a:r>
              <a:t>A 线：DiffSBDD 小改低风险，但改善有限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5200" y="522000"/>
            <a:ext cx="1098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E6B7C"/>
                </a:solidFill>
                <a:latin typeface="Microsoft YaHei"/>
              </a:defRPr>
            </a:pPr>
            <a:r>
              <a:t>适合作为 ablation 或辅助增强，不宜作为主线</a:t>
            </a:r>
          </a:p>
        </p:txBody>
      </p:sp>
      <p:pic>
        <p:nvPicPr>
          <p:cNvPr id="4" name="Picture 3" descr="sanitize_success_by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00" y="792000"/>
            <a:ext cx="5400000" cy="331199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048000" y="792000"/>
            <a:ext cx="5400000" cy="3311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28000" y="972000"/>
            <a:ext cx="4968000" cy="136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marL="250000" hanging="120000">
              <a:spcAft>
                <a:spcPts val="500"/>
              </a:spcAft>
              <a:defRPr sz="1200">
                <a:solidFill>
                  <a:srgbClr val="162A45"/>
                </a:solidFill>
                <a:latin typeface="Microsoft YaHei"/>
              </a:defRPr>
            </a:pPr>
            <a:r>
              <a:t>不改变 DiffSBDD 扩散变量，只加 atom prior / geometry refine / local mask / bond head</a:t>
            </a:r>
          </a:p>
          <a:p>
            <a:pPr marL="250000" hanging="120000">
              <a:spcAft>
                <a:spcPts val="500"/>
              </a:spcAft>
              <a:defRPr sz="1200">
                <a:solidFill>
                  <a:srgbClr val="162A45"/>
                </a:solidFill>
                <a:latin typeface="Microsoft YaHei"/>
              </a:defRPr>
            </a:pPr>
            <a:r>
              <a:t>工程风险低，容易接到现有 RL 主线</a:t>
            </a:r>
          </a:p>
          <a:p>
            <a:pPr marL="250000" hanging="120000">
              <a:spcAft>
                <a:spcPts val="500"/>
              </a:spcAft>
              <a:defRPr sz="1200">
                <a:solidFill>
                  <a:srgbClr val="162A45"/>
                </a:solidFill>
                <a:latin typeface="Microsoft YaHei"/>
              </a:defRPr>
            </a:pPr>
            <a:r>
              <a:t>但不引入显式 bond diffusion，最终成键仍依赖规则重建</a:t>
            </a:r>
          </a:p>
          <a:p>
            <a:pPr marL="250000" hanging="120000">
              <a:spcAft>
                <a:spcPts val="500"/>
              </a:spcAft>
              <a:defRPr sz="1200">
                <a:solidFill>
                  <a:srgbClr val="162A45"/>
                </a:solidFill>
                <a:latin typeface="Microsoft YaHei"/>
              </a:defRPr>
            </a:pPr>
            <a:r>
              <a:t>可能缓解现象，但难以解决根因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28000" y="2880000"/>
            <a:ext cx="4644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D9662"/>
                </a:solidFill>
                <a:latin typeface="Microsoft YaHei"/>
              </a:defRPr>
            </a:pPr>
            <a:r>
              <a:t>定位：低风险修补方案，可作为对照和 ablation；不建议作为论文主线。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4000" y="6678000"/>
            <a:ext cx="11160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B7C"/>
                </a:solidFill>
                <a:latin typeface="Microsoft YaHei"/>
              </a:defRPr>
            </a:pPr>
            <a:r>
              <a:t>DiffB110 四条探索线方向请教 | 2026-06-10 |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62000"/>
            <a:ext cx="11340000" cy="37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62A45"/>
                </a:solidFill>
                <a:latin typeface="Microsoft YaHei"/>
              </a:defRPr>
            </a:pPr>
            <a:r>
              <a:t>B 线：x/h/e 大改触及根因，但不是原创机制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5200" y="522000"/>
            <a:ext cx="1098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E6B7C"/>
                </a:solidFill>
                <a:latin typeface="Microsoft YaHei"/>
              </a:defRPr>
            </a:pPr>
            <a:r>
              <a:t>已有 joint atom-bond-coordinate 思路在 DiffSBDD 上的适配/重构</a:t>
            </a:r>
          </a:p>
        </p:txBody>
      </p:sp>
      <p:pic>
        <p:nvPicPr>
          <p:cNvPr id="4" name="Picture 3" descr="longtest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792000"/>
            <a:ext cx="5544000" cy="331199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120000" y="792000"/>
            <a:ext cx="5364000" cy="3311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0000" y="972000"/>
            <a:ext cx="4896000" cy="151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marL="250000" hanging="120000">
              <a:spcAft>
                <a:spcPts val="500"/>
              </a:spcAft>
              <a:defRPr sz="1150">
                <a:solidFill>
                  <a:srgbClr val="162A45"/>
                </a:solidFill>
                <a:latin typeface="Microsoft YaHei"/>
              </a:defRPr>
            </a:pPr>
            <a:r>
              <a:t>目标：把 bond / halfedge 作为 e 通道加入扩散过程</a:t>
            </a:r>
          </a:p>
          <a:p>
            <a:pPr marL="250000" hanging="120000">
              <a:spcAft>
                <a:spcPts val="500"/>
              </a:spcAft>
              <a:defRPr sz="1150">
                <a:solidFill>
                  <a:srgbClr val="162A45"/>
                </a:solidFill>
                <a:latin typeface="Microsoft YaHei"/>
              </a:defRPr>
            </a:pPr>
            <a:r>
              <a:t>已完成 halfedge 数据链、edge denoiser、xhe joint skeleton、DiffGui 对照分析</a:t>
            </a:r>
          </a:p>
          <a:p>
            <a:pPr marL="250000" hanging="120000">
              <a:spcAft>
                <a:spcPts val="500"/>
              </a:spcAft>
              <a:defRPr sz="1150">
                <a:solidFill>
                  <a:srgbClr val="162A45"/>
                </a:solidFill>
                <a:latin typeface="Microsoft YaHei"/>
              </a:defRPr>
            </a:pPr>
            <a:r>
              <a:t>关键认识：不是最后预测键，而是每一步联合去噪时 edge 参与坐标更新</a:t>
            </a:r>
          </a:p>
          <a:p>
            <a:pPr marL="250000" hanging="120000">
              <a:spcAft>
                <a:spcPts val="500"/>
              </a:spcAft>
              <a:defRPr sz="1150">
                <a:solidFill>
                  <a:srgbClr val="162A45"/>
                </a:solidFill>
                <a:latin typeface="Microsoft YaHei"/>
              </a:defRPr>
            </a:pPr>
            <a:r>
              <a:t>真实定位：参考已有联合建模思想，做 DiffSBDD bond-aware 适配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0000" y="2880000"/>
            <a:ext cx="464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44C"/>
                </a:solidFill>
                <a:latin typeface="Microsoft YaHei"/>
              </a:defRPr>
            </a:pPr>
            <a:r>
              <a:t>主要风险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0000" y="3114000"/>
            <a:ext cx="4752000" cy="75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marL="250000" hanging="120000">
              <a:spcAft>
                <a:spcPts val="500"/>
              </a:spcAft>
              <a:defRPr sz="1100">
                <a:solidFill>
                  <a:srgbClr val="162A45"/>
                </a:solidFill>
                <a:latin typeface="Microsoft YaHei"/>
              </a:defRPr>
            </a:pPr>
            <a:r>
              <a:t>loss scale / edge schedule / joint sampling 难稳定</a:t>
            </a:r>
          </a:p>
          <a:p>
            <a:pPr marL="250000" hanging="120000">
              <a:spcAft>
                <a:spcPts val="500"/>
              </a:spcAft>
              <a:defRPr sz="1100">
                <a:solidFill>
                  <a:srgbClr val="162A45"/>
                </a:solidFill>
                <a:latin typeface="Microsoft YaHei"/>
              </a:defRPr>
            </a:pPr>
            <a:r>
              <a:t>DDPO logprob 对接工作量大</a:t>
            </a:r>
          </a:p>
          <a:p>
            <a:pPr marL="250000" hanging="120000">
              <a:spcAft>
                <a:spcPts val="500"/>
              </a:spcAft>
              <a:defRPr sz="1100">
                <a:solidFill>
                  <a:srgbClr val="162A45"/>
                </a:solidFill>
                <a:latin typeface="Microsoft YaHei"/>
              </a:defRPr>
            </a:pPr>
            <a:r>
              <a:t>即使完成，也不确定超过 DiffGui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4000" y="6678000"/>
            <a:ext cx="11160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B7C"/>
                </a:solidFill>
                <a:latin typeface="Microsoft YaHei"/>
              </a:defRPr>
            </a:pPr>
            <a:r>
              <a:t>DiffB110 四条探索线方向请教 | 2026-06-10 |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62000"/>
            <a:ext cx="11340000" cy="37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62A45"/>
                </a:solidFill>
                <a:latin typeface="Microsoft YaHei"/>
              </a:defRPr>
            </a:pPr>
            <a:r>
              <a:t>D 线：DiffGui RL 已跑通，进入分布稳定化测试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5200" y="522000"/>
            <a:ext cx="1098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E6B7C"/>
                </a:solidFill>
                <a:latin typeface="Microsoft YaHei"/>
              </a:defRPr>
            </a:pPr>
            <a:r>
              <a:t>当前最倾向主线，但不能说已经成功</a:t>
            </a:r>
          </a:p>
        </p:txBody>
      </p:sp>
      <p:pic>
        <p:nvPicPr>
          <p:cNvPr id="4" name="Picture 3" descr="training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756000"/>
            <a:ext cx="5148000" cy="30240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60000" y="810000"/>
          <a:ext cx="5832000" cy="189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1080000"/>
                <a:gridCol w="1080000"/>
                <a:gridCol w="1872000"/>
              </a:tblGrid>
              <a:tr h="2700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16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epoch1</a:t>
                      </a:r>
                    </a:p>
                  </a:txBody>
                  <a:tcPr>
                    <a:solidFill>
                      <a:srgbClr val="16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epoch9</a:t>
                      </a:r>
                    </a:p>
                  </a:txBody>
                  <a:tcPr>
                    <a:solidFill>
                      <a:srgbClr val="16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解读</a:t>
                      </a:r>
                    </a:p>
                  </a:txBody>
                  <a:tcPr>
                    <a:solidFill>
                      <a:srgbClr val="162A45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62A45"/>
                          </a:solidFill>
                          <a:latin typeface="Microsoft YaHei"/>
                        </a:defRPr>
                      </a:pPr>
                      <a:r>
                        <a:t>reward_total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62A45"/>
                          </a:solidFill>
                          <a:latin typeface="Microsoft YaHei"/>
                        </a:defRPr>
                      </a:pPr>
                      <a:r>
                        <a:t>0.406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62A45"/>
                          </a:solidFill>
                          <a:latin typeface="Microsoft YaHei"/>
                        </a:defRPr>
                      </a:pPr>
                      <a:r>
                        <a:t>0.471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62A45"/>
                          </a:solidFill>
                          <a:latin typeface="Microsoft YaHei"/>
                        </a:defRPr>
                      </a:pPr>
                      <a:r>
                        <a:t>中间 e3/e4 更高后回落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62A45"/>
                          </a:solidFill>
                          <a:latin typeface="Microsoft YaHei"/>
                        </a:defRPr>
                      </a:pPr>
                      <a:r>
                        <a:t>reconstruction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62A45"/>
                          </a:solidFill>
                          <a:latin typeface="Microsoft YaHei"/>
                        </a:defRPr>
                      </a:pPr>
                      <a:r>
                        <a:t>0.859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62A45"/>
                          </a:solidFill>
                          <a:latin typeface="Microsoft YaHei"/>
                        </a:defRPr>
                      </a:pPr>
                      <a:r>
                        <a:t>0.896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62A45"/>
                          </a:solidFill>
                          <a:latin typeface="Microsoft YaHei"/>
                        </a:defRPr>
                      </a:pPr>
                      <a:r>
                        <a:t>略稳定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62A45"/>
                          </a:solidFill>
                          <a:latin typeface="Microsoft YaHei"/>
                        </a:defRPr>
                      </a:pPr>
                      <a:r>
                        <a:t>docking_raw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62A45"/>
                          </a:solidFill>
                          <a:latin typeface="Microsoft YaHei"/>
                        </a:defRPr>
                      </a:pPr>
                      <a:r>
                        <a:t>-9.96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62A45"/>
                          </a:solidFill>
                          <a:latin typeface="Microsoft YaHei"/>
                        </a:defRPr>
                      </a:pPr>
                      <a:r>
                        <a:t>-9.42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62A45"/>
                          </a:solidFill>
                          <a:latin typeface="Microsoft YaHei"/>
                        </a:defRPr>
                      </a:pPr>
                      <a:r>
                        <a:t>未同步改善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62A45"/>
                          </a:solidFill>
                          <a:latin typeface="Microsoft YaHei"/>
                        </a:defRPr>
                      </a:pPr>
                      <a:r>
                        <a:t>ring_reward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62A45"/>
                          </a:solidFill>
                          <a:latin typeface="Microsoft YaHei"/>
                        </a:defRPr>
                      </a:pPr>
                      <a:r>
                        <a:t>0.279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62A45"/>
                          </a:solidFill>
                          <a:latin typeface="Microsoft YaHei"/>
                        </a:defRPr>
                      </a:pPr>
                      <a:r>
                        <a:t>0.355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62A45"/>
                          </a:solidFill>
                          <a:latin typeface="Microsoft YaHei"/>
                        </a:defRPr>
                      </a:pPr>
                      <a:r>
                        <a:t>轻微改善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62A45"/>
                          </a:solidFill>
                          <a:latin typeface="Microsoft YaHei"/>
                        </a:defRPr>
                      </a:pPr>
                      <a:r>
                        <a:t>ring_count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62A45"/>
                          </a:solidFill>
                          <a:latin typeface="Microsoft YaHei"/>
                        </a:defRPr>
                      </a:pPr>
                      <a:r>
                        <a:t>4.14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62A45"/>
                          </a:solidFill>
                          <a:latin typeface="Microsoft YaHei"/>
                        </a:defRPr>
                      </a:pPr>
                      <a:r>
                        <a:t>3.96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62A45"/>
                          </a:solidFill>
                          <a:latin typeface="Microsoft YaHei"/>
                        </a:defRPr>
                      </a:pPr>
                      <a:r>
                        <a:t>略下降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62A45"/>
                          </a:solidFill>
                          <a:latin typeface="Microsoft YaHei"/>
                        </a:defRPr>
                      </a:pPr>
                      <a:r>
                        <a:t>carbon_fraction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62A45"/>
                          </a:solidFill>
                          <a:latin typeface="Microsoft YaHei"/>
                        </a:defRPr>
                      </a:pPr>
                      <a:r>
                        <a:t>0.784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62A45"/>
                          </a:solidFill>
                          <a:latin typeface="Microsoft YaHei"/>
                        </a:defRPr>
                      </a:pPr>
                      <a:r>
                        <a:t>0.753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62A45"/>
                          </a:solidFill>
                          <a:latin typeface="Microsoft YaHei"/>
                        </a:defRPr>
                      </a:pPr>
                      <a:r>
                        <a:t>高碳缓解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760000" y="2916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97B"/>
                </a:solidFill>
                <a:latin typeface="Microsoft YaHei"/>
              </a:defRPr>
            </a:pPr>
            <a:r>
              <a:t>配置：8GPU / 200 steps / batch 192 / last3 / lr=3e-5 / 24 epochs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0" y="3311999"/>
            <a:ext cx="5328000" cy="79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marL="250000" hanging="120000">
              <a:spcAft>
                <a:spcPts val="500"/>
              </a:spcAft>
              <a:defRPr sz="1150">
                <a:solidFill>
                  <a:srgbClr val="162A45"/>
                </a:solidFill>
                <a:latin typeface="Microsoft YaHei"/>
              </a:defRPr>
            </a:pPr>
            <a:r>
              <a:t>ring/carbon 有早期改善信号</a:t>
            </a:r>
          </a:p>
          <a:p>
            <a:pPr marL="250000" hanging="120000">
              <a:spcAft>
                <a:spcPts val="500"/>
              </a:spcAft>
              <a:defRPr sz="1150">
                <a:solidFill>
                  <a:srgbClr val="162A45"/>
                </a:solidFill>
                <a:latin typeface="Microsoft YaHei"/>
              </a:defRPr>
            </a:pPr>
            <a:r>
              <a:t>docking 尚未同步改善</a:t>
            </a:r>
          </a:p>
          <a:p>
            <a:pPr marL="250000" hanging="120000">
              <a:spcAft>
                <a:spcPts val="500"/>
              </a:spcAft>
              <a:defRPr sz="1150">
                <a:solidFill>
                  <a:srgbClr val="162A45"/>
                </a:solidFill>
                <a:latin typeface="Microsoft YaHei"/>
              </a:defRPr>
            </a:pPr>
            <a:r>
              <a:t>下一步重点是 distribution-stabilized RL、多目标权重和 PPO 稳定性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4000" y="6678000"/>
            <a:ext cx="11160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B7C"/>
                </a:solidFill>
                <a:latin typeface="Microsoft YaHei"/>
              </a:defRPr>
            </a:pPr>
            <a:r>
              <a:t>DiffB110 四条探索线方向请教 | 2026-06-10 |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62000"/>
            <a:ext cx="11340000" cy="37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62A45"/>
                </a:solidFill>
                <a:latin typeface="Microsoft YaHei"/>
              </a:defRPr>
            </a:pPr>
            <a:r>
              <a:t>四条线风险-收益判断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5200" y="522000"/>
            <a:ext cx="1098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E6B7C"/>
                </a:solidFill>
                <a:latin typeface="Microsoft YaHei"/>
              </a:defRPr>
            </a:pPr>
            <a:r>
              <a:t>当前建议：主推 D，保留 C，收缩 B，A 做辅助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792000"/>
            <a:ext cx="10008000" cy="37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512000" y="3960000"/>
            <a:ext cx="8208000" cy="0"/>
          </a:xfrm>
          <a:prstGeom prst="line">
            <a:avLst/>
          </a:prstGeom>
          <a:ln>
            <a:solidFill>
              <a:srgbClr val="5E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512000" y="1080000"/>
            <a:ext cx="0" cy="2880000"/>
          </a:xfrm>
          <a:prstGeom prst="line">
            <a:avLst/>
          </a:prstGeom>
          <a:ln>
            <a:solidFill>
              <a:srgbClr val="5E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320000" y="4050000"/>
            <a:ext cx="30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E6B7C"/>
                </a:solidFill>
                <a:latin typeface="Microsoft YaHei"/>
              </a:defRPr>
            </a:pPr>
            <a:r>
              <a:t>短期可控性 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000" y="2160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E6B7C"/>
                </a:solidFill>
                <a:latin typeface="Microsoft YaHei"/>
              </a:defRPr>
            </a:pPr>
            <a:r>
              <a:t>方法贡献</a:t>
            </a:r>
            <a:br/>
            <a:r>
              <a:t>确定性 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0000" y="3168000"/>
            <a:ext cx="1872000" cy="594000"/>
          </a:xfrm>
          <a:prstGeom prst="roundRect">
            <a:avLst/>
          </a:prstGeom>
          <a:solidFill>
            <a:srgbClr val="E2F4F1"/>
          </a:solidFill>
          <a:ln w="12700">
            <a:solidFill>
              <a:srgbClr val="4D9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10000" y="3232800"/>
            <a:ext cx="251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D9662"/>
                </a:solidFill>
                <a:latin typeface="Microsoft YaHei"/>
              </a:defRPr>
            </a:pPr>
            <a: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0000" y="3240000"/>
            <a:ext cx="14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62A45"/>
                </a:solidFill>
                <a:latin typeface="Microsoft YaHei"/>
              </a:defRPr>
            </a:pPr>
            <a:r>
              <a:t>小改</a:t>
            </a:r>
            <a:br/>
            <a:r>
              <a:t>低风险辅助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08000" y="2736000"/>
            <a:ext cx="1872000" cy="594000"/>
          </a:xfrm>
          <a:prstGeom prst="roundRect">
            <a:avLst/>
          </a:prstGeom>
          <a:solidFill>
            <a:srgbClr val="E7EFFC"/>
          </a:solidFill>
          <a:ln w="12700">
            <a:solidFill>
              <a:srgbClr val="31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98000" y="2800800"/>
            <a:ext cx="251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166B2"/>
                </a:solidFill>
                <a:latin typeface="Microsoft YaHei"/>
              </a:defRPr>
            </a:pPr>
            <a: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68000" y="2808000"/>
            <a:ext cx="14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62A45"/>
                </a:solidFill>
                <a:latin typeface="Microsoft YaHei"/>
              </a:defRPr>
            </a:pPr>
            <a:r>
              <a:t>DiffSBDD RL</a:t>
            </a:r>
            <a:br/>
            <a:r>
              <a:t>成熟对照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24000" y="1512000"/>
            <a:ext cx="1872000" cy="594000"/>
          </a:xfrm>
          <a:prstGeom prst="roundRect">
            <a:avLst/>
          </a:prstGeom>
          <a:solidFill>
            <a:srgbClr val="FDF2E5"/>
          </a:solidFill>
          <a:ln w="12700">
            <a:solidFill>
              <a:srgbClr val="E88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14000" y="1576800"/>
            <a:ext cx="251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844C"/>
                </a:solidFill>
                <a:latin typeface="Microsoft YaHei"/>
              </a:defRPr>
            </a:pPr>
            <a: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4000" y="1584000"/>
            <a:ext cx="14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62A45"/>
                </a:solidFill>
                <a:latin typeface="Microsoft YaHei"/>
              </a:defRPr>
            </a:pPr>
            <a:r>
              <a:t>x/h/e 适配</a:t>
            </a:r>
            <a:br/>
            <a:r>
              <a:t>高风险重构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20000" y="1440000"/>
            <a:ext cx="1872000" cy="594000"/>
          </a:xfrm>
          <a:prstGeom prst="roundRect">
            <a:avLst/>
          </a:prstGeom>
          <a:solidFill>
            <a:srgbClr val="E2F4F1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10000" y="1504800"/>
            <a:ext cx="251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897B"/>
                </a:solidFill>
                <a:latin typeface="Microsoft YaHei"/>
              </a:defRPr>
            </a:pPr>
            <a: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0000" y="1512000"/>
            <a:ext cx="14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62A45"/>
                </a:solidFill>
                <a:latin typeface="Microsoft YaHei"/>
              </a:defRPr>
            </a:pPr>
            <a:r>
              <a:t>DiffGui RL</a:t>
            </a:r>
            <a:br/>
            <a:r>
              <a:t>当前主推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0000" y="4734000"/>
            <a:ext cx="9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4E52"/>
                </a:solidFill>
                <a:latin typeface="Microsoft YaHei"/>
              </a:defRPr>
            </a:pPr>
            <a:r>
              <a:t>注意：B 线不是原创机制最高，而是已有联合建模思想在 DiffSBDD 上的高风险适配/重构。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4000" y="6678000"/>
            <a:ext cx="11160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B7C"/>
                </a:solidFill>
                <a:latin typeface="Microsoft YaHei"/>
              </a:defRPr>
            </a:pPr>
            <a:r>
              <a:t>DiffB110 四条探索线方向请教 | 2026-06-10 |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62000"/>
            <a:ext cx="11340000" cy="37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62A45"/>
                </a:solidFill>
                <a:latin typeface="Microsoft YaHei"/>
              </a:defRPr>
            </a:pPr>
            <a:r>
              <a:t>想请教老师的关键问题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5200" y="522000"/>
            <a:ext cx="1098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E6B7C"/>
                </a:solidFill>
                <a:latin typeface="Microsoft YaHei"/>
              </a:defRPr>
            </a:pPr>
            <a:r>
              <a:t>希望得到的是方向判断，而不是单个实验细节建议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900000"/>
            <a:ext cx="5040000" cy="127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02000" y="1026000"/>
            <a:ext cx="576000" cy="234000"/>
          </a:xfrm>
          <a:prstGeom prst="roundRect">
            <a:avLst/>
          </a:prstGeom>
          <a:solidFill>
            <a:srgbClr val="E7EFFC"/>
          </a:solidFill>
          <a:ln>
            <a:solidFill>
              <a:srgbClr val="E7E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166B2"/>
                </a:solidFill>
                <a:latin typeface="Microsoft YaHei"/>
              </a:defRPr>
            </a:pPr>
            <a:r>
              <a:t>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68000" y="1026000"/>
            <a:ext cx="38519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2A45"/>
                </a:solidFill>
                <a:latin typeface="Microsoft YaHei"/>
              </a:defRPr>
            </a:pPr>
            <a:r>
              <a:t>D 线 DiffGui RL 是否足够作为主线？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1386000"/>
            <a:ext cx="43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E6B7C"/>
                </a:solidFill>
                <a:latin typeface="Microsoft YaHei"/>
              </a:defRPr>
            </a:pPr>
            <a:r>
              <a:t>底座更好、RL 已接通，但 docking 尚未同步改善。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12000" y="900000"/>
            <a:ext cx="5040000" cy="127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3999" y="1026000"/>
            <a:ext cx="576000" cy="234000"/>
          </a:xfrm>
          <a:prstGeom prst="roundRect">
            <a:avLst/>
          </a:prstGeom>
          <a:solidFill>
            <a:srgbClr val="E7EFFC"/>
          </a:solidFill>
          <a:ln>
            <a:solidFill>
              <a:srgbClr val="E7E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166B2"/>
                </a:solidFill>
                <a:latin typeface="Microsoft YaHei"/>
              </a:defRPr>
            </a:pPr>
            <a:r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40000" y="1026000"/>
            <a:ext cx="38519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2A45"/>
                </a:solidFill>
                <a:latin typeface="Microsoft YaHei"/>
              </a:defRPr>
            </a:pPr>
            <a:r>
              <a:t>reward hacking / distribution-stabilized RL 能否构成方法贡献？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999" y="1386000"/>
            <a:ext cx="43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E6B7C"/>
                </a:solidFill>
                <a:latin typeface="Microsoft YaHei"/>
              </a:defRPr>
            </a:pPr>
            <a:r>
              <a:t>若贡献在分布稳定化和可控优化，实验应如何设计？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0000" y="2556000"/>
            <a:ext cx="5040000" cy="127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02000" y="2681999"/>
            <a:ext cx="576000" cy="234000"/>
          </a:xfrm>
          <a:prstGeom prst="roundRect">
            <a:avLst/>
          </a:prstGeom>
          <a:solidFill>
            <a:srgbClr val="E7EFFC"/>
          </a:solidFill>
          <a:ln>
            <a:solidFill>
              <a:srgbClr val="E7E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166B2"/>
                </a:solidFill>
                <a:latin typeface="Microsoft YaHei"/>
              </a:defRPr>
            </a:pPr>
            <a:r>
              <a:t>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68000" y="2681999"/>
            <a:ext cx="38519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2A45"/>
                </a:solidFill>
                <a:latin typeface="Microsoft YaHei"/>
              </a:defRPr>
            </a:pPr>
            <a:r>
              <a:t>B 线是否值得继续？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3041999"/>
            <a:ext cx="43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E6B7C"/>
                </a:solidFill>
                <a:latin typeface="Microsoft YaHei"/>
              </a:defRPr>
            </a:pPr>
            <a:r>
              <a:t>还是应收缩成 bond-aware adapter / reconstruction 模块？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12000" y="2556000"/>
            <a:ext cx="5040000" cy="127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73999" y="2681999"/>
            <a:ext cx="576000" cy="234000"/>
          </a:xfrm>
          <a:prstGeom prst="roundRect">
            <a:avLst/>
          </a:prstGeom>
          <a:solidFill>
            <a:srgbClr val="E7EFFC"/>
          </a:solidFill>
          <a:ln>
            <a:solidFill>
              <a:srgbClr val="E7E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166B2"/>
                </a:solidFill>
                <a:latin typeface="Microsoft YaHei"/>
              </a:defRPr>
            </a:pPr>
            <a:r>
              <a:t>Q4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40000" y="2681999"/>
            <a:ext cx="38519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2A45"/>
                </a:solidFill>
                <a:latin typeface="Microsoft YaHei"/>
              </a:defRPr>
            </a:pPr>
            <a:r>
              <a:t>审稿人更看重什么？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999" y="3041999"/>
            <a:ext cx="43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E6B7C"/>
                </a:solidFill>
                <a:latin typeface="Microsoft YaHei"/>
              </a:defRPr>
            </a:pPr>
            <a:r>
              <a:t>生成质量、docking、分布护栏，还是模型结构新颖性？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000" y="6678000"/>
            <a:ext cx="11160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B7C"/>
                </a:solidFill>
                <a:latin typeface="Microsoft YaHei"/>
              </a:defRPr>
            </a:pPr>
            <a:r>
              <a:t>DiffB110 四条探索线方向请教 | 2026-06-10 |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62000"/>
            <a:ext cx="11340000" cy="37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62A45"/>
                </a:solidFill>
                <a:latin typeface="Microsoft YaHei"/>
              </a:defRPr>
            </a:pPr>
            <a:r>
              <a:t>两种可收敛论文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5200" y="522000"/>
            <a:ext cx="1098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E6B7C"/>
                </a:solidFill>
                <a:latin typeface="Microsoft YaHei"/>
              </a:defRPr>
            </a:pPr>
            <a:r>
              <a:t>当前个人倾向 Story A，但需要老师判断方法贡献是否足够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0000" y="864000"/>
            <a:ext cx="5328000" cy="3168000"/>
          </a:xfrm>
          <a:prstGeom prst="roundRect">
            <a:avLst/>
          </a:prstGeom>
          <a:solidFill>
            <a:srgbClr val="E2F4F1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0000" y="864000"/>
            <a:ext cx="5328000" cy="3168000"/>
          </a:xfrm>
          <a:prstGeom prst="roundRect">
            <a:avLst/>
          </a:prstGeom>
          <a:solidFill>
            <a:srgbClr val="FDF2E5"/>
          </a:solidFill>
          <a:ln w="12700">
            <a:solidFill>
              <a:srgbClr val="E88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000" y="1080000"/>
            <a:ext cx="46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897B"/>
                </a:solidFill>
                <a:latin typeface="Microsoft YaHei"/>
              </a:defRPr>
            </a:pPr>
            <a:r>
              <a:t>Story A：DiffGui 上的分布稳定化 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000" y="1440000"/>
            <a:ext cx="4608000" cy="144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marL="250000" hanging="120000">
              <a:spcAft>
                <a:spcPts val="500"/>
              </a:spcAft>
              <a:defRPr sz="1200">
                <a:solidFill>
                  <a:srgbClr val="162A45"/>
                </a:solidFill>
                <a:latin typeface="Microsoft YaHei"/>
              </a:defRPr>
            </a:pPr>
            <a:r>
              <a:t>主线：D 线 DiffGui RL</a:t>
            </a:r>
          </a:p>
          <a:p>
            <a:pPr marL="250000" hanging="120000">
              <a:spcAft>
                <a:spcPts val="500"/>
              </a:spcAft>
              <a:defRPr sz="1200">
                <a:solidFill>
                  <a:srgbClr val="162A45"/>
                </a:solidFill>
                <a:latin typeface="Microsoft YaHei"/>
              </a:defRPr>
            </a:pPr>
            <a:r>
              <a:t>贡献：joint atom-bond-coordinate 底座上的 reward-guided fine-tuning</a:t>
            </a:r>
          </a:p>
          <a:p>
            <a:pPr marL="250000" hanging="120000">
              <a:spcAft>
                <a:spcPts val="500"/>
              </a:spcAft>
              <a:defRPr sz="1200">
                <a:solidFill>
                  <a:srgbClr val="162A45"/>
                </a:solidFill>
                <a:latin typeface="Microsoft YaHei"/>
              </a:defRPr>
            </a:pPr>
            <a:r>
              <a:t>重点：docking 优化与 ring/carbon 分布稳定化</a:t>
            </a:r>
          </a:p>
          <a:p>
            <a:pPr marL="250000" hanging="120000">
              <a:spcAft>
                <a:spcPts val="500"/>
              </a:spcAft>
              <a:defRPr sz="1200">
                <a:solidFill>
                  <a:srgbClr val="162A45"/>
                </a:solidFill>
                <a:latin typeface="Microsoft YaHei"/>
              </a:defRPr>
            </a:pPr>
            <a:r>
              <a:t>C 线提供 reward hacking 诊断和 guard/pool/KL 工具链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000" y="3330000"/>
            <a:ext cx="46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97B"/>
                </a:solidFill>
                <a:latin typeface="Microsoft YaHei"/>
              </a:defRPr>
            </a:pPr>
            <a:r>
              <a:t>当前更推荐：底座更稳，问题更聚焦，工程已跑通。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2000" y="1080000"/>
            <a:ext cx="46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844C"/>
                </a:solidFill>
                <a:latin typeface="Microsoft YaHei"/>
              </a:defRPr>
            </a:pPr>
            <a:r>
              <a:t>Story B：DiffSBDD 的 bond-aware 适配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90000" y="1440000"/>
            <a:ext cx="4608000" cy="144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marL="250000" hanging="120000">
              <a:spcAft>
                <a:spcPts val="500"/>
              </a:spcAft>
              <a:defRPr sz="1200">
                <a:solidFill>
                  <a:srgbClr val="162A45"/>
                </a:solidFill>
                <a:latin typeface="Microsoft YaHei"/>
              </a:defRPr>
            </a:pPr>
            <a:r>
              <a:t>主线：B 线，或收缩后的轻量 bond-aware 模块</a:t>
            </a:r>
          </a:p>
          <a:p>
            <a:pPr marL="250000" hanging="120000">
              <a:spcAft>
                <a:spcPts val="500"/>
              </a:spcAft>
              <a:defRPr sz="1200">
                <a:solidFill>
                  <a:srgbClr val="162A45"/>
                </a:solidFill>
                <a:latin typeface="Microsoft YaHei"/>
              </a:defRPr>
            </a:pPr>
            <a:r>
              <a:t>贡献：参考已有 x/h/e 思路，验证能否修复 DiffSBDD 成键短板</a:t>
            </a:r>
          </a:p>
          <a:p>
            <a:pPr marL="250000" hanging="120000">
              <a:spcAft>
                <a:spcPts val="500"/>
              </a:spcAft>
              <a:defRPr sz="1200">
                <a:solidFill>
                  <a:srgbClr val="162A45"/>
                </a:solidFill>
                <a:latin typeface="Microsoft YaHei"/>
              </a:defRPr>
            </a:pPr>
            <a:r>
              <a:t>风险：完整链条重构，收益不确定</a:t>
            </a:r>
          </a:p>
          <a:p>
            <a:pPr marL="250000" hanging="120000">
              <a:spcAft>
                <a:spcPts val="500"/>
              </a:spcAft>
              <a:defRPr sz="1200">
                <a:solidFill>
                  <a:srgbClr val="162A45"/>
                </a:solidFill>
                <a:latin typeface="Microsoft YaHei"/>
              </a:defRPr>
            </a:pPr>
            <a:r>
              <a:t>RL 作为应用验证，而不是短期主线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0000" y="3330000"/>
            <a:ext cx="46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844C"/>
                </a:solidFill>
                <a:latin typeface="Microsoft YaHei"/>
              </a:defRPr>
            </a:pPr>
            <a:r>
              <a:t>需要老师判断：是否值得继续押注，还是作为支线保留。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000" y="4446000"/>
            <a:ext cx="95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62A45"/>
                </a:solidFill>
                <a:latin typeface="Microsoft YaHei"/>
              </a:defRPr>
            </a:pPr>
            <a:r>
              <a:t>结论口径：当前是方向选择与方法收敛阶段，不是最终成果展示。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4000" y="6678000"/>
            <a:ext cx="11160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B7C"/>
                </a:solidFill>
                <a:latin typeface="Microsoft YaHei"/>
              </a:defRPr>
            </a:pPr>
            <a:r>
              <a:t>DiffB110 四条探索线方向请教 | 2026-06-10 |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